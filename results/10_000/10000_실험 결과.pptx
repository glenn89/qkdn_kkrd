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84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76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1_1-hop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1_1-hop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3_1-hop.csv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3_1-hop.csv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5_1-hop.csv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5_1-hop.csv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1_n-hop_20.csv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3_n-hop_20.csv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3_n-hop_20.csv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1_n-hop_20.csv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5_n-hop_20.csv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5_n-hop_20.csv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1_1-hop_lifetime100.csv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1_1-hop_lifetime100.csv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3_1-hop_lifetime100.csv" TargetMode="External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3_1-hop_lifetime100.csv" TargetMode="External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5_1-hop_lifetime100.csv" TargetMode="External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dmin\Documents\git\qkdn_kkrd\results\10_000\NSFNET_weighted_shortest_path_results_05_1-hop_lifetime100.csv" TargetMode="External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NSFNET_weighted_shortest_path_r!$A$1</c:f>
              <c:strCache>
                <c:ptCount val="1"/>
                <c:pt idx="0">
                  <c:v>average_provision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NSFNET_weighted_shortest_path_r!$A$2:$A$22</c:f>
              <c:numCache>
                <c:formatCode>General</c:formatCode>
                <c:ptCount val="21"/>
                <c:pt idx="0">
                  <c:v>91295.666666666599</c:v>
                </c:pt>
                <c:pt idx="1">
                  <c:v>91295.333333333299</c:v>
                </c:pt>
                <c:pt idx="2">
                  <c:v>91295.333333333299</c:v>
                </c:pt>
                <c:pt idx="3">
                  <c:v>91295.333333333299</c:v>
                </c:pt>
                <c:pt idx="4">
                  <c:v>91295.333333333299</c:v>
                </c:pt>
                <c:pt idx="5">
                  <c:v>91295</c:v>
                </c:pt>
                <c:pt idx="6">
                  <c:v>91295</c:v>
                </c:pt>
                <c:pt idx="7">
                  <c:v>91295</c:v>
                </c:pt>
                <c:pt idx="8">
                  <c:v>91295</c:v>
                </c:pt>
                <c:pt idx="9">
                  <c:v>91295</c:v>
                </c:pt>
                <c:pt idx="10">
                  <c:v>91295</c:v>
                </c:pt>
                <c:pt idx="11">
                  <c:v>91295</c:v>
                </c:pt>
                <c:pt idx="12">
                  <c:v>91295</c:v>
                </c:pt>
                <c:pt idx="13">
                  <c:v>91295</c:v>
                </c:pt>
                <c:pt idx="14">
                  <c:v>91295</c:v>
                </c:pt>
                <c:pt idx="15">
                  <c:v>91295</c:v>
                </c:pt>
                <c:pt idx="16">
                  <c:v>91295</c:v>
                </c:pt>
                <c:pt idx="17">
                  <c:v>91295</c:v>
                </c:pt>
                <c:pt idx="18">
                  <c:v>91295</c:v>
                </c:pt>
                <c:pt idx="19">
                  <c:v>91295</c:v>
                </c:pt>
                <c:pt idx="20">
                  <c:v>90502.333333333299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D6A-49B0-8378-812B6A365A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22531247"/>
        <c:axId val="622531727"/>
      </c:scatterChart>
      <c:valAx>
        <c:axId val="62253124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22531727"/>
        <c:crosses val="autoZero"/>
        <c:crossBetween val="midCat"/>
      </c:valAx>
      <c:valAx>
        <c:axId val="6225317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22531247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NSFNET_weighted_shortest_path_r!$G$1</c:f>
              <c:strCache>
                <c:ptCount val="1"/>
                <c:pt idx="0">
                  <c:v>average_delay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NSFNET_weighted_shortest_path_r!$G$2:$G$22</c:f>
              <c:numCache>
                <c:formatCode>General</c:formatCode>
                <c:ptCount val="21"/>
                <c:pt idx="0">
                  <c:v>490.57565754323201</c:v>
                </c:pt>
                <c:pt idx="1">
                  <c:v>490.56071838979301</c:v>
                </c:pt>
                <c:pt idx="2">
                  <c:v>490.56071838979301</c:v>
                </c:pt>
                <c:pt idx="3">
                  <c:v>490.49299219931601</c:v>
                </c:pt>
                <c:pt idx="4">
                  <c:v>490.35034270436699</c:v>
                </c:pt>
                <c:pt idx="5">
                  <c:v>490.072578731303</c:v>
                </c:pt>
                <c:pt idx="6">
                  <c:v>489.78030600403002</c:v>
                </c:pt>
                <c:pt idx="7">
                  <c:v>489.57373457915901</c:v>
                </c:pt>
                <c:pt idx="8">
                  <c:v>489.309930244604</c:v>
                </c:pt>
                <c:pt idx="9">
                  <c:v>489.11051747404201</c:v>
                </c:pt>
                <c:pt idx="10">
                  <c:v>488.938539133863</c:v>
                </c:pt>
                <c:pt idx="11">
                  <c:v>488.75853266739898</c:v>
                </c:pt>
                <c:pt idx="12">
                  <c:v>488.38994069455799</c:v>
                </c:pt>
                <c:pt idx="13">
                  <c:v>488.19853311324999</c:v>
                </c:pt>
                <c:pt idx="14">
                  <c:v>487.95559255380903</c:v>
                </c:pt>
                <c:pt idx="15">
                  <c:v>487.54145593531098</c:v>
                </c:pt>
                <c:pt idx="16">
                  <c:v>487.13549981237998</c:v>
                </c:pt>
                <c:pt idx="17">
                  <c:v>486.69789713222002</c:v>
                </c:pt>
                <c:pt idx="18">
                  <c:v>485.96483514459197</c:v>
                </c:pt>
                <c:pt idx="19">
                  <c:v>480.77436329278697</c:v>
                </c:pt>
                <c:pt idx="20">
                  <c:v>86.279342488969405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467-484D-A768-03F34CE87E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1126271"/>
        <c:axId val="531126751"/>
      </c:scatterChart>
      <c:valAx>
        <c:axId val="53112627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31126751"/>
        <c:crosses val="autoZero"/>
        <c:crossBetween val="midCat"/>
      </c:valAx>
      <c:valAx>
        <c:axId val="53112675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31126271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NSFNET_weighted_shortest_path_r!$A$1</c:f>
              <c:strCache>
                <c:ptCount val="1"/>
                <c:pt idx="0">
                  <c:v>average_provision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NSFNET_weighted_shortest_path_r!$A$2:$A$22</c:f>
              <c:numCache>
                <c:formatCode>General</c:formatCode>
                <c:ptCount val="21"/>
                <c:pt idx="0">
                  <c:v>272810.66666666599</c:v>
                </c:pt>
                <c:pt idx="1">
                  <c:v>272807.33333333302</c:v>
                </c:pt>
                <c:pt idx="2">
                  <c:v>272807.33333333302</c:v>
                </c:pt>
                <c:pt idx="3">
                  <c:v>272806</c:v>
                </c:pt>
                <c:pt idx="4">
                  <c:v>272804.33333333302</c:v>
                </c:pt>
                <c:pt idx="5">
                  <c:v>272803</c:v>
                </c:pt>
                <c:pt idx="6">
                  <c:v>272796</c:v>
                </c:pt>
                <c:pt idx="7">
                  <c:v>272774.66666666599</c:v>
                </c:pt>
                <c:pt idx="8">
                  <c:v>272768</c:v>
                </c:pt>
                <c:pt idx="9">
                  <c:v>272756.33333333302</c:v>
                </c:pt>
                <c:pt idx="10">
                  <c:v>272726</c:v>
                </c:pt>
                <c:pt idx="11">
                  <c:v>272714.66666666599</c:v>
                </c:pt>
                <c:pt idx="12">
                  <c:v>272683.33333333302</c:v>
                </c:pt>
                <c:pt idx="13">
                  <c:v>272640.66666666599</c:v>
                </c:pt>
                <c:pt idx="14">
                  <c:v>272528.33333333302</c:v>
                </c:pt>
                <c:pt idx="15">
                  <c:v>272376</c:v>
                </c:pt>
                <c:pt idx="16">
                  <c:v>271961.33333333302</c:v>
                </c:pt>
                <c:pt idx="17">
                  <c:v>270545</c:v>
                </c:pt>
                <c:pt idx="18">
                  <c:v>266307.33333333302</c:v>
                </c:pt>
                <c:pt idx="19">
                  <c:v>257247.33333333299</c:v>
                </c:pt>
                <c:pt idx="20">
                  <c:v>235669.66666666599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4BD-4DD8-9194-9DBAC750E98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12965328"/>
        <c:axId val="306677760"/>
      </c:scatterChart>
      <c:valAx>
        <c:axId val="41296532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306677760"/>
        <c:crosses val="autoZero"/>
        <c:crossBetween val="midCat"/>
      </c:valAx>
      <c:valAx>
        <c:axId val="306677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41296532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NSFNET_weighted_shortest_path_r!$G$1</c:f>
              <c:strCache>
                <c:ptCount val="1"/>
                <c:pt idx="0">
                  <c:v>average_delay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NSFNET_weighted_shortest_path_r!$G$2:$G$22</c:f>
              <c:numCache>
                <c:formatCode>General</c:formatCode>
                <c:ptCount val="21"/>
                <c:pt idx="0">
                  <c:v>554.60898352450397</c:v>
                </c:pt>
                <c:pt idx="1">
                  <c:v>554.54933581001603</c:v>
                </c:pt>
                <c:pt idx="2">
                  <c:v>554.54933581001603</c:v>
                </c:pt>
                <c:pt idx="3">
                  <c:v>554.51857432084796</c:v>
                </c:pt>
                <c:pt idx="4">
                  <c:v>554.39924825434503</c:v>
                </c:pt>
                <c:pt idx="5">
                  <c:v>554.25621994005303</c:v>
                </c:pt>
                <c:pt idx="6">
                  <c:v>554.16224678817105</c:v>
                </c:pt>
                <c:pt idx="7">
                  <c:v>554.08561975517796</c:v>
                </c:pt>
                <c:pt idx="8">
                  <c:v>553.89337185824002</c:v>
                </c:pt>
                <c:pt idx="9">
                  <c:v>553.93124853154097</c:v>
                </c:pt>
                <c:pt idx="10">
                  <c:v>553.96272325018799</c:v>
                </c:pt>
                <c:pt idx="11">
                  <c:v>553.39439264104794</c:v>
                </c:pt>
                <c:pt idx="12">
                  <c:v>552.74367777878501</c:v>
                </c:pt>
                <c:pt idx="13">
                  <c:v>552.20362746122805</c:v>
                </c:pt>
                <c:pt idx="14">
                  <c:v>551.71609518218099</c:v>
                </c:pt>
                <c:pt idx="15">
                  <c:v>550.82589769792696</c:v>
                </c:pt>
                <c:pt idx="16">
                  <c:v>548.12641122867296</c:v>
                </c:pt>
                <c:pt idx="17">
                  <c:v>543.63489781853696</c:v>
                </c:pt>
                <c:pt idx="18">
                  <c:v>534.24209052167703</c:v>
                </c:pt>
                <c:pt idx="19">
                  <c:v>434.01391972959601</c:v>
                </c:pt>
                <c:pt idx="20">
                  <c:v>92.481649832049001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8AE-4EB7-9F8A-765B8A44BB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11279712"/>
        <c:axId val="311278752"/>
      </c:scatterChart>
      <c:valAx>
        <c:axId val="31127971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311278752"/>
        <c:crosses val="autoZero"/>
        <c:crossBetween val="midCat"/>
      </c:valAx>
      <c:valAx>
        <c:axId val="3112787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31127971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NSFNET_weighted_shortest_path_r!$A$1</c:f>
              <c:strCache>
                <c:ptCount val="1"/>
                <c:pt idx="0">
                  <c:v>average_provision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NSFNET_weighted_shortest_path_r!$A$2:$A$22</c:f>
              <c:numCache>
                <c:formatCode>General</c:formatCode>
                <c:ptCount val="21"/>
                <c:pt idx="0">
                  <c:v>319119</c:v>
                </c:pt>
                <c:pt idx="1">
                  <c:v>319119</c:v>
                </c:pt>
                <c:pt idx="2">
                  <c:v>319119</c:v>
                </c:pt>
                <c:pt idx="3">
                  <c:v>319109</c:v>
                </c:pt>
                <c:pt idx="4">
                  <c:v>319105</c:v>
                </c:pt>
                <c:pt idx="5">
                  <c:v>319103</c:v>
                </c:pt>
                <c:pt idx="6">
                  <c:v>319103</c:v>
                </c:pt>
                <c:pt idx="7">
                  <c:v>319066.33333333302</c:v>
                </c:pt>
                <c:pt idx="8">
                  <c:v>319059.33333333302</c:v>
                </c:pt>
                <c:pt idx="9">
                  <c:v>319037.33333333302</c:v>
                </c:pt>
                <c:pt idx="10">
                  <c:v>318985.33333333302</c:v>
                </c:pt>
                <c:pt idx="11">
                  <c:v>318908.33333333302</c:v>
                </c:pt>
                <c:pt idx="12">
                  <c:v>318478.66666666599</c:v>
                </c:pt>
                <c:pt idx="13">
                  <c:v>318136.66666666599</c:v>
                </c:pt>
                <c:pt idx="14">
                  <c:v>317616.66666666599</c:v>
                </c:pt>
                <c:pt idx="15">
                  <c:v>316768.66666666599</c:v>
                </c:pt>
                <c:pt idx="16">
                  <c:v>315189.33333333302</c:v>
                </c:pt>
                <c:pt idx="17">
                  <c:v>311989.33333333302</c:v>
                </c:pt>
                <c:pt idx="18">
                  <c:v>306179</c:v>
                </c:pt>
                <c:pt idx="19">
                  <c:v>296869</c:v>
                </c:pt>
                <c:pt idx="20">
                  <c:v>290083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C32-4CD0-9B79-626586564F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79350960"/>
        <c:axId val="2079351440"/>
      </c:scatterChart>
      <c:valAx>
        <c:axId val="207935096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079351440"/>
        <c:crosses val="autoZero"/>
        <c:crossBetween val="midCat"/>
      </c:valAx>
      <c:valAx>
        <c:axId val="2079351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07935096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NSFNET_weighted_shortest_path_r!$G$1</c:f>
              <c:strCache>
                <c:ptCount val="1"/>
                <c:pt idx="0">
                  <c:v>average_delay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NSFNET_weighted_shortest_path_r!$G$2:$G$22</c:f>
              <c:numCache>
                <c:formatCode>General</c:formatCode>
                <c:ptCount val="21"/>
                <c:pt idx="0">
                  <c:v>608.78177626929801</c:v>
                </c:pt>
                <c:pt idx="1">
                  <c:v>608.73268111260302</c:v>
                </c:pt>
                <c:pt idx="2">
                  <c:v>608.73244703852902</c:v>
                </c:pt>
                <c:pt idx="3">
                  <c:v>608.74098681649298</c:v>
                </c:pt>
                <c:pt idx="4">
                  <c:v>608.63166664025198</c:v>
                </c:pt>
                <c:pt idx="5">
                  <c:v>608.46609828948203</c:v>
                </c:pt>
                <c:pt idx="6">
                  <c:v>608.27405829982195</c:v>
                </c:pt>
                <c:pt idx="7">
                  <c:v>608.18204683772296</c:v>
                </c:pt>
                <c:pt idx="8">
                  <c:v>607.86628321011403</c:v>
                </c:pt>
                <c:pt idx="9">
                  <c:v>607.55651374164302</c:v>
                </c:pt>
                <c:pt idx="10">
                  <c:v>606.96505359290597</c:v>
                </c:pt>
                <c:pt idx="11">
                  <c:v>606.26380953288401</c:v>
                </c:pt>
                <c:pt idx="12">
                  <c:v>605.42223909945801</c:v>
                </c:pt>
                <c:pt idx="13">
                  <c:v>603.76265104666402</c:v>
                </c:pt>
                <c:pt idx="14">
                  <c:v>600.91344476941504</c:v>
                </c:pt>
                <c:pt idx="15">
                  <c:v>595.35764333142902</c:v>
                </c:pt>
                <c:pt idx="16">
                  <c:v>583.12179044316701</c:v>
                </c:pt>
                <c:pt idx="17">
                  <c:v>561.54557304474702</c:v>
                </c:pt>
                <c:pt idx="18">
                  <c:v>523.88348398052801</c:v>
                </c:pt>
                <c:pt idx="19">
                  <c:v>436.761758402998</c:v>
                </c:pt>
                <c:pt idx="20">
                  <c:v>88.407298715164899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DE1-458A-BB2C-5900C08A93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2565088"/>
        <c:axId val="52566048"/>
      </c:scatterChart>
      <c:valAx>
        <c:axId val="5256508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2566048"/>
        <c:crosses val="autoZero"/>
        <c:crossBetween val="midCat"/>
      </c:valAx>
      <c:valAx>
        <c:axId val="525660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256508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NSFNET_weighted_shortest_path_r!$G$1</c:f>
              <c:strCache>
                <c:ptCount val="1"/>
                <c:pt idx="0">
                  <c:v>average_delay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NSFNET_weighted_shortest_path_r!$G$2:$G$22</c:f>
              <c:numCache>
                <c:formatCode>General</c:formatCode>
                <c:ptCount val="21"/>
                <c:pt idx="0">
                  <c:v>86.279342488969405</c:v>
                </c:pt>
                <c:pt idx="1">
                  <c:v>85.875894571097902</c:v>
                </c:pt>
                <c:pt idx="2">
                  <c:v>84.963320645917506</c:v>
                </c:pt>
                <c:pt idx="3">
                  <c:v>83.857089610498505</c:v>
                </c:pt>
                <c:pt idx="4">
                  <c:v>82.142388841854</c:v>
                </c:pt>
                <c:pt idx="5">
                  <c:v>78.477231888968603</c:v>
                </c:pt>
                <c:pt idx="6">
                  <c:v>75.942685736961195</c:v>
                </c:pt>
                <c:pt idx="7">
                  <c:v>74.266672912708302</c:v>
                </c:pt>
                <c:pt idx="8">
                  <c:v>73.210793008127098</c:v>
                </c:pt>
                <c:pt idx="9">
                  <c:v>72.480270006567295</c:v>
                </c:pt>
                <c:pt idx="10">
                  <c:v>72.044063241643101</c:v>
                </c:pt>
                <c:pt idx="11">
                  <c:v>71.742848367061399</c:v>
                </c:pt>
                <c:pt idx="12">
                  <c:v>71.588752186731</c:v>
                </c:pt>
                <c:pt idx="13">
                  <c:v>71.501669935917803</c:v>
                </c:pt>
                <c:pt idx="14">
                  <c:v>71.425732246047801</c:v>
                </c:pt>
                <c:pt idx="15">
                  <c:v>71.396479576552395</c:v>
                </c:pt>
                <c:pt idx="16">
                  <c:v>71.362021214870495</c:v>
                </c:pt>
                <c:pt idx="17">
                  <c:v>71.332048457728604</c:v>
                </c:pt>
                <c:pt idx="18">
                  <c:v>71.318386947400796</c:v>
                </c:pt>
                <c:pt idx="19">
                  <c:v>71.307271971360905</c:v>
                </c:pt>
                <c:pt idx="20">
                  <c:v>71.307271971360905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6C6-4976-B4C9-BAD721A781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471120"/>
        <c:axId val="53469200"/>
      </c:scatterChart>
      <c:valAx>
        <c:axId val="5347112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3469200"/>
        <c:crosses val="autoZero"/>
        <c:crossBetween val="midCat"/>
      </c:valAx>
      <c:valAx>
        <c:axId val="534692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347112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NSFNET_weighted_shortest_path_r!$A$1</c:f>
              <c:strCache>
                <c:ptCount val="1"/>
                <c:pt idx="0">
                  <c:v>average_provision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NSFNET_weighted_shortest_path_r!$A$2:$A$22</c:f>
              <c:numCache>
                <c:formatCode>General</c:formatCode>
                <c:ptCount val="21"/>
                <c:pt idx="0">
                  <c:v>235669.66666666599</c:v>
                </c:pt>
                <c:pt idx="1">
                  <c:v>229938.66666666599</c:v>
                </c:pt>
                <c:pt idx="2">
                  <c:v>227947.66666666599</c:v>
                </c:pt>
                <c:pt idx="3">
                  <c:v>227379.33333333299</c:v>
                </c:pt>
                <c:pt idx="4">
                  <c:v>227149.66666666599</c:v>
                </c:pt>
                <c:pt idx="5">
                  <c:v>226816.66666666599</c:v>
                </c:pt>
                <c:pt idx="6">
                  <c:v>226638</c:v>
                </c:pt>
                <c:pt idx="7">
                  <c:v>226475.66666666599</c:v>
                </c:pt>
                <c:pt idx="8">
                  <c:v>226350.66666666599</c:v>
                </c:pt>
                <c:pt idx="9">
                  <c:v>226347.33333333299</c:v>
                </c:pt>
                <c:pt idx="10">
                  <c:v>226359</c:v>
                </c:pt>
                <c:pt idx="11">
                  <c:v>226355.33333333299</c:v>
                </c:pt>
                <c:pt idx="12">
                  <c:v>226354.66666666599</c:v>
                </c:pt>
                <c:pt idx="13">
                  <c:v>226354.66666666599</c:v>
                </c:pt>
                <c:pt idx="14">
                  <c:v>226342.66666666599</c:v>
                </c:pt>
                <c:pt idx="15">
                  <c:v>226342</c:v>
                </c:pt>
                <c:pt idx="16">
                  <c:v>226322</c:v>
                </c:pt>
                <c:pt idx="17">
                  <c:v>226305</c:v>
                </c:pt>
                <c:pt idx="18">
                  <c:v>226304.33333333299</c:v>
                </c:pt>
                <c:pt idx="19">
                  <c:v>226301.66666666599</c:v>
                </c:pt>
                <c:pt idx="20">
                  <c:v>226296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F89-4DD8-817C-973FD69DDC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94055360"/>
        <c:axId val="1094060160"/>
      </c:scatterChart>
      <c:valAx>
        <c:axId val="109405536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94060160"/>
        <c:crosses val="autoZero"/>
        <c:crossBetween val="midCat"/>
      </c:valAx>
      <c:valAx>
        <c:axId val="1094060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9405536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NSFNET_weighted_shortest_path_r!$G$1</c:f>
              <c:strCache>
                <c:ptCount val="1"/>
                <c:pt idx="0">
                  <c:v>average_delay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NSFNET_weighted_shortest_path_r!$G$2:$G$22</c:f>
              <c:numCache>
                <c:formatCode>General</c:formatCode>
                <c:ptCount val="21"/>
                <c:pt idx="0">
                  <c:v>92.481649832049001</c:v>
                </c:pt>
                <c:pt idx="1">
                  <c:v>90.908595791431395</c:v>
                </c:pt>
                <c:pt idx="2">
                  <c:v>85.195057655228496</c:v>
                </c:pt>
                <c:pt idx="3">
                  <c:v>80.051237412580093</c:v>
                </c:pt>
                <c:pt idx="4">
                  <c:v>76.313457430317897</c:v>
                </c:pt>
                <c:pt idx="5">
                  <c:v>73.816897942182607</c:v>
                </c:pt>
                <c:pt idx="6">
                  <c:v>72.1216531674187</c:v>
                </c:pt>
                <c:pt idx="7">
                  <c:v>71.013806562985593</c:v>
                </c:pt>
                <c:pt idx="8">
                  <c:v>70.302086207484194</c:v>
                </c:pt>
                <c:pt idx="9">
                  <c:v>69.790232727112098</c:v>
                </c:pt>
                <c:pt idx="10">
                  <c:v>69.418673861793906</c:v>
                </c:pt>
                <c:pt idx="11">
                  <c:v>69.165551422419995</c:v>
                </c:pt>
                <c:pt idx="12">
                  <c:v>68.955409423086707</c:v>
                </c:pt>
                <c:pt idx="13">
                  <c:v>68.8426086174929</c:v>
                </c:pt>
                <c:pt idx="14">
                  <c:v>68.739048870087103</c:v>
                </c:pt>
                <c:pt idx="15">
                  <c:v>68.652467123731299</c:v>
                </c:pt>
                <c:pt idx="16">
                  <c:v>68.595181476328406</c:v>
                </c:pt>
                <c:pt idx="17">
                  <c:v>68.537192672440099</c:v>
                </c:pt>
                <c:pt idx="18">
                  <c:v>68.521661503347303</c:v>
                </c:pt>
                <c:pt idx="19">
                  <c:v>68.515824763219598</c:v>
                </c:pt>
                <c:pt idx="20">
                  <c:v>68.515824763219598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B7A-4378-86B7-FDD4765D04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94065920"/>
        <c:axId val="1094055360"/>
      </c:scatterChart>
      <c:valAx>
        <c:axId val="109406592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94055360"/>
        <c:crosses val="autoZero"/>
        <c:crossBetween val="midCat"/>
      </c:valAx>
      <c:valAx>
        <c:axId val="1094055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9406592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NSFNET_weighted_shortest_path_r!$A$1</c:f>
              <c:strCache>
                <c:ptCount val="1"/>
                <c:pt idx="0">
                  <c:v>average_provision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NSFNET_weighted_shortest_path_r!$A$2:$A$22</c:f>
              <c:numCache>
                <c:formatCode>General</c:formatCode>
                <c:ptCount val="21"/>
                <c:pt idx="0">
                  <c:v>90502.333329999994</c:v>
                </c:pt>
                <c:pt idx="1">
                  <c:v>90451.666670000006</c:v>
                </c:pt>
                <c:pt idx="2">
                  <c:v>90386.666670000006</c:v>
                </c:pt>
                <c:pt idx="3">
                  <c:v>90323.333329999994</c:v>
                </c:pt>
                <c:pt idx="4">
                  <c:v>90284</c:v>
                </c:pt>
                <c:pt idx="5">
                  <c:v>90263.666670000006</c:v>
                </c:pt>
                <c:pt idx="6">
                  <c:v>90244.666670000006</c:v>
                </c:pt>
                <c:pt idx="7">
                  <c:v>90229.333329999994</c:v>
                </c:pt>
                <c:pt idx="8">
                  <c:v>90229</c:v>
                </c:pt>
                <c:pt idx="9">
                  <c:v>90229</c:v>
                </c:pt>
                <c:pt idx="10">
                  <c:v>90228.666670000006</c:v>
                </c:pt>
                <c:pt idx="11">
                  <c:v>90228.666670000006</c:v>
                </c:pt>
                <c:pt idx="12">
                  <c:v>90228.666670000006</c:v>
                </c:pt>
                <c:pt idx="13">
                  <c:v>90228.666670000006</c:v>
                </c:pt>
                <c:pt idx="14">
                  <c:v>90228.333329999994</c:v>
                </c:pt>
                <c:pt idx="15">
                  <c:v>90227.333329999994</c:v>
                </c:pt>
                <c:pt idx="16">
                  <c:v>90227.666670000006</c:v>
                </c:pt>
                <c:pt idx="17">
                  <c:v>90227.333329999994</c:v>
                </c:pt>
                <c:pt idx="18">
                  <c:v>90227</c:v>
                </c:pt>
                <c:pt idx="19">
                  <c:v>90225.333329999994</c:v>
                </c:pt>
                <c:pt idx="20">
                  <c:v>90223.333329999994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C8CD-44C4-A04C-303BB4A904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94075520"/>
        <c:axId val="1094075040"/>
      </c:scatterChart>
      <c:valAx>
        <c:axId val="109407552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94075040"/>
        <c:crosses val="autoZero"/>
        <c:crossBetween val="midCat"/>
      </c:valAx>
      <c:valAx>
        <c:axId val="10940750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9407552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NSFNET_weighted_shortest_path_r!$A$1</c:f>
              <c:strCache>
                <c:ptCount val="1"/>
                <c:pt idx="0">
                  <c:v>average_provision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NSFNET_weighted_shortest_path_r!$A$2:$A$22</c:f>
              <c:numCache>
                <c:formatCode>General</c:formatCode>
                <c:ptCount val="21"/>
                <c:pt idx="0">
                  <c:v>290083</c:v>
                </c:pt>
                <c:pt idx="1">
                  <c:v>281964.66666666599</c:v>
                </c:pt>
                <c:pt idx="2">
                  <c:v>280222</c:v>
                </c:pt>
                <c:pt idx="3">
                  <c:v>279871.33333333302</c:v>
                </c:pt>
                <c:pt idx="4">
                  <c:v>279655</c:v>
                </c:pt>
                <c:pt idx="5">
                  <c:v>279557.33333333302</c:v>
                </c:pt>
                <c:pt idx="6">
                  <c:v>279392</c:v>
                </c:pt>
                <c:pt idx="7">
                  <c:v>279216.33333333302</c:v>
                </c:pt>
                <c:pt idx="8">
                  <c:v>279178</c:v>
                </c:pt>
                <c:pt idx="9">
                  <c:v>279073</c:v>
                </c:pt>
                <c:pt idx="10">
                  <c:v>278965.33333333302</c:v>
                </c:pt>
                <c:pt idx="11">
                  <c:v>278853.33333333302</c:v>
                </c:pt>
                <c:pt idx="12">
                  <c:v>278854.33333333302</c:v>
                </c:pt>
                <c:pt idx="13">
                  <c:v>278853</c:v>
                </c:pt>
                <c:pt idx="14">
                  <c:v>278824.33333333302</c:v>
                </c:pt>
                <c:pt idx="15">
                  <c:v>278818</c:v>
                </c:pt>
                <c:pt idx="16">
                  <c:v>278811</c:v>
                </c:pt>
                <c:pt idx="17">
                  <c:v>278821.66666666599</c:v>
                </c:pt>
                <c:pt idx="18">
                  <c:v>278797</c:v>
                </c:pt>
                <c:pt idx="19">
                  <c:v>278788.66666666599</c:v>
                </c:pt>
                <c:pt idx="20">
                  <c:v>278788.66666666599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93F-42C5-99EF-35A9F623759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93992944"/>
        <c:axId val="693994864"/>
      </c:scatterChart>
      <c:valAx>
        <c:axId val="69399294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93994864"/>
        <c:crosses val="autoZero"/>
        <c:crossBetween val="midCat"/>
      </c:valAx>
      <c:valAx>
        <c:axId val="6939948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939929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NSFNET_weighted_shortest_path_r!$G$1</c:f>
              <c:strCache>
                <c:ptCount val="1"/>
                <c:pt idx="0">
                  <c:v>average_delay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NSFNET_weighted_shortest_path_r!$G$2:$G$22</c:f>
              <c:numCache>
                <c:formatCode>General</c:formatCode>
                <c:ptCount val="21"/>
                <c:pt idx="0">
                  <c:v>88.407298715164899</c:v>
                </c:pt>
                <c:pt idx="1">
                  <c:v>84.789802614476201</c:v>
                </c:pt>
                <c:pt idx="2">
                  <c:v>79.348042615457402</c:v>
                </c:pt>
                <c:pt idx="3">
                  <c:v>75.043004696447596</c:v>
                </c:pt>
                <c:pt idx="4">
                  <c:v>72.156154306848194</c:v>
                </c:pt>
                <c:pt idx="5">
                  <c:v>70.114336753283794</c:v>
                </c:pt>
                <c:pt idx="6">
                  <c:v>68.827738496889495</c:v>
                </c:pt>
                <c:pt idx="7">
                  <c:v>67.921237798056197</c:v>
                </c:pt>
                <c:pt idx="8">
                  <c:v>67.269780518824504</c:v>
                </c:pt>
                <c:pt idx="9">
                  <c:v>66.834948713443694</c:v>
                </c:pt>
                <c:pt idx="10">
                  <c:v>66.548139071211807</c:v>
                </c:pt>
                <c:pt idx="11">
                  <c:v>66.342229514850999</c:v>
                </c:pt>
                <c:pt idx="12">
                  <c:v>66.180206728058707</c:v>
                </c:pt>
                <c:pt idx="13">
                  <c:v>66.058801315113996</c:v>
                </c:pt>
                <c:pt idx="14">
                  <c:v>65.987766919701102</c:v>
                </c:pt>
                <c:pt idx="15">
                  <c:v>65.949083488952596</c:v>
                </c:pt>
                <c:pt idx="16">
                  <c:v>65.894538343590099</c:v>
                </c:pt>
                <c:pt idx="17">
                  <c:v>65.856546504647</c:v>
                </c:pt>
                <c:pt idx="18">
                  <c:v>65.857664851500104</c:v>
                </c:pt>
                <c:pt idx="19">
                  <c:v>65.857723834885803</c:v>
                </c:pt>
                <c:pt idx="20">
                  <c:v>65.857723834885803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A60-4299-B78E-F8051FDEEF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91116816"/>
        <c:axId val="691118736"/>
      </c:scatterChart>
      <c:valAx>
        <c:axId val="69111681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91118736"/>
        <c:crosses val="autoZero"/>
        <c:crossBetween val="midCat"/>
      </c:valAx>
      <c:valAx>
        <c:axId val="6911187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9111681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NSFNET_weighted_shortest_path_r!$A$1</c:f>
              <c:strCache>
                <c:ptCount val="1"/>
                <c:pt idx="0">
                  <c:v>average_provision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NSFNET_weighted_shortest_path_r!$A$2:$A$10</c:f>
              <c:numCache>
                <c:formatCode>General</c:formatCode>
                <c:ptCount val="9"/>
                <c:pt idx="0">
                  <c:v>91295.666666666599</c:v>
                </c:pt>
                <c:pt idx="1">
                  <c:v>91295.666666666599</c:v>
                </c:pt>
                <c:pt idx="2">
                  <c:v>91295.666666666599</c:v>
                </c:pt>
                <c:pt idx="3">
                  <c:v>91295.666666666599</c:v>
                </c:pt>
                <c:pt idx="4">
                  <c:v>91295</c:v>
                </c:pt>
                <c:pt idx="5">
                  <c:v>91295</c:v>
                </c:pt>
                <c:pt idx="6">
                  <c:v>91295</c:v>
                </c:pt>
                <c:pt idx="7">
                  <c:v>91295</c:v>
                </c:pt>
                <c:pt idx="8">
                  <c:v>91276.333333333299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CE5-4ABE-9C13-5B1717B9B5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6708367"/>
        <c:axId val="1938635199"/>
      </c:scatterChart>
      <c:valAx>
        <c:axId val="193670836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938635199"/>
        <c:crosses val="autoZero"/>
        <c:crossBetween val="midCat"/>
      </c:valAx>
      <c:valAx>
        <c:axId val="1938635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936708367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NSFNET_weighted_shortest_path_r!$G$1</c:f>
              <c:strCache>
                <c:ptCount val="1"/>
                <c:pt idx="0">
                  <c:v>average_delay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NSFNET_weighted_shortest_path_r!$G$2:$G$10</c:f>
              <c:numCache>
                <c:formatCode>General</c:formatCode>
                <c:ptCount val="9"/>
                <c:pt idx="0">
                  <c:v>490.576597499245</c:v>
                </c:pt>
                <c:pt idx="1">
                  <c:v>481.744048013726</c:v>
                </c:pt>
                <c:pt idx="2">
                  <c:v>467.30948598485003</c:v>
                </c:pt>
                <c:pt idx="3">
                  <c:v>444.14067871177599</c:v>
                </c:pt>
                <c:pt idx="4">
                  <c:v>415.97318676675201</c:v>
                </c:pt>
                <c:pt idx="5">
                  <c:v>410.41697065558998</c:v>
                </c:pt>
                <c:pt idx="6">
                  <c:v>397.35348993372997</c:v>
                </c:pt>
                <c:pt idx="7">
                  <c:v>390.27079970922199</c:v>
                </c:pt>
                <c:pt idx="8">
                  <c:v>74.4177917681331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FAB-4677-A8D0-26B5899EF6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27923295"/>
        <c:axId val="1227925695"/>
      </c:scatterChart>
      <c:valAx>
        <c:axId val="122792329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227925695"/>
        <c:crosses val="autoZero"/>
        <c:crossBetween val="midCat"/>
      </c:valAx>
      <c:valAx>
        <c:axId val="12279256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22792329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NSFNET_weighted_shortest_path_r!$A$1</c:f>
              <c:strCache>
                <c:ptCount val="1"/>
                <c:pt idx="0">
                  <c:v>average_provision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NSFNET_weighted_shortest_path_r!$A$2:$A$10</c:f>
              <c:numCache>
                <c:formatCode>General</c:formatCode>
                <c:ptCount val="9"/>
                <c:pt idx="0">
                  <c:v>272963.33333333302</c:v>
                </c:pt>
                <c:pt idx="1">
                  <c:v>272896</c:v>
                </c:pt>
                <c:pt idx="2">
                  <c:v>272824.33333333302</c:v>
                </c:pt>
                <c:pt idx="3">
                  <c:v>272291.66666666599</c:v>
                </c:pt>
                <c:pt idx="4">
                  <c:v>270625.66666666599</c:v>
                </c:pt>
                <c:pt idx="5">
                  <c:v>268509.66666666599</c:v>
                </c:pt>
                <c:pt idx="6">
                  <c:v>266042</c:v>
                </c:pt>
                <c:pt idx="7">
                  <c:v>262927.66666666599</c:v>
                </c:pt>
                <c:pt idx="8">
                  <c:v>257035.66666666599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733-4C64-9FDC-85325CE781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83622384"/>
        <c:axId val="2083623344"/>
      </c:scatterChart>
      <c:valAx>
        <c:axId val="208362238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083623344"/>
        <c:crosses val="autoZero"/>
        <c:crossBetween val="midCat"/>
      </c:valAx>
      <c:valAx>
        <c:axId val="20836233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08362238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NSFNET_weighted_shortest_path_r!$G$1</c:f>
              <c:strCache>
                <c:ptCount val="1"/>
                <c:pt idx="0">
                  <c:v>average_delay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NSFNET_weighted_shortest_path_r!$G$2:$G$10</c:f>
              <c:numCache>
                <c:formatCode>General</c:formatCode>
                <c:ptCount val="9"/>
                <c:pt idx="0">
                  <c:v>547.46959802176502</c:v>
                </c:pt>
                <c:pt idx="1">
                  <c:v>543.303165536758</c:v>
                </c:pt>
                <c:pt idx="2">
                  <c:v>532.21224490991995</c:v>
                </c:pt>
                <c:pt idx="3">
                  <c:v>512.94716019561804</c:v>
                </c:pt>
                <c:pt idx="4">
                  <c:v>479.857008183549</c:v>
                </c:pt>
                <c:pt idx="5">
                  <c:v>456.95285725404898</c:v>
                </c:pt>
                <c:pt idx="6">
                  <c:v>411.30454720773503</c:v>
                </c:pt>
                <c:pt idx="7">
                  <c:v>290.60500349306398</c:v>
                </c:pt>
                <c:pt idx="8">
                  <c:v>77.528750303615496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F74-46DB-AAD9-B6D2C519DE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83625264"/>
        <c:axId val="2083625744"/>
      </c:scatterChart>
      <c:valAx>
        <c:axId val="2083625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083625744"/>
        <c:crosses val="autoZero"/>
        <c:crossBetween val="midCat"/>
      </c:valAx>
      <c:valAx>
        <c:axId val="2083625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08362526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NSFNET_weighted_shortest_path_r!$A$1</c:f>
              <c:strCache>
                <c:ptCount val="1"/>
                <c:pt idx="0">
                  <c:v>average_provision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NSFNET_weighted_shortest_path_r!$A$2:$A$10</c:f>
              <c:numCache>
                <c:formatCode>General</c:formatCode>
                <c:ptCount val="9"/>
                <c:pt idx="0">
                  <c:v>326206.33333333302</c:v>
                </c:pt>
                <c:pt idx="1">
                  <c:v>325975.33333333302</c:v>
                </c:pt>
                <c:pt idx="2">
                  <c:v>325032.66666666599</c:v>
                </c:pt>
                <c:pt idx="3">
                  <c:v>323315</c:v>
                </c:pt>
                <c:pt idx="4">
                  <c:v>319758.33333333302</c:v>
                </c:pt>
                <c:pt idx="5">
                  <c:v>316294</c:v>
                </c:pt>
                <c:pt idx="6">
                  <c:v>312167.66666666599</c:v>
                </c:pt>
                <c:pt idx="7">
                  <c:v>307810.33333333302</c:v>
                </c:pt>
                <c:pt idx="8">
                  <c:v>293741.66666666599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9BD-40FC-B8C2-0D6B49C2E3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10113727"/>
        <c:axId val="1610116127"/>
      </c:scatterChart>
      <c:valAx>
        <c:axId val="161011372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610116127"/>
        <c:crosses val="autoZero"/>
        <c:crossBetween val="midCat"/>
      </c:valAx>
      <c:valAx>
        <c:axId val="16101161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610113727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NSFNET_weighted_shortest_path_r!$G$1</c:f>
              <c:strCache>
                <c:ptCount val="1"/>
                <c:pt idx="0">
                  <c:v>average_delay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NSFNET_weighted_shortest_path_r!$G$2:$G$10</c:f>
              <c:numCache>
                <c:formatCode>General</c:formatCode>
                <c:ptCount val="9"/>
                <c:pt idx="0">
                  <c:v>610.26315084713303</c:v>
                </c:pt>
                <c:pt idx="1">
                  <c:v>604.45161882557602</c:v>
                </c:pt>
                <c:pt idx="2">
                  <c:v>588.68998476747697</c:v>
                </c:pt>
                <c:pt idx="3">
                  <c:v>560.24688101610104</c:v>
                </c:pt>
                <c:pt idx="4">
                  <c:v>509.09190052019801</c:v>
                </c:pt>
                <c:pt idx="5">
                  <c:v>477.53609115281898</c:v>
                </c:pt>
                <c:pt idx="6">
                  <c:v>438.28765099248199</c:v>
                </c:pt>
                <c:pt idx="7">
                  <c:v>337.06589867871401</c:v>
                </c:pt>
                <c:pt idx="8">
                  <c:v>86.247085589753198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A85-4CE1-AF18-F7548727A6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10202735"/>
        <c:axId val="1610200335"/>
      </c:scatterChart>
      <c:valAx>
        <c:axId val="16102027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610200335"/>
        <c:crosses val="autoZero"/>
        <c:crossBetween val="midCat"/>
      </c:valAx>
      <c:valAx>
        <c:axId val="16102003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61020273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B50E1B-BFE9-BEAF-02D8-AAA2839DFE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B398D8-AB08-0A1D-49E3-F6EC597E9D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C8AA69-5599-C9B0-8BF9-552F6E0A0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195CD5-88CE-A010-6F02-C16A3ABF2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D6725B-D7FD-DCBE-C4A1-2A07B01EE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7061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918F7-E860-B5EA-2702-A438DCEAE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9259D2-BA44-AB53-0F1E-9A2AEBC4E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3023DE-D742-9633-D0EE-C2031BC31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92BBD9-01A6-AAEF-5E84-CD7642FFC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BAA7A2-F6A5-99E3-A633-964D14C25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5526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0FA218-B1C1-D066-BC10-69F622531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ABDD0E-E95C-6784-2E97-441F9E17D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B16562-FD7E-15E5-05F6-0130501EC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83454A-01E9-47B0-6836-8C76B4EF5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13FCE0-6241-596F-D77E-CFFA20D7E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711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A49308-28B7-6C30-EA96-8E91E4FDC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AE7616-5815-831E-D3C8-54C73B2087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769CE75-540D-45C7-9FE1-8DCE9366D4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8C476B-0930-3C6F-603F-494A92AF3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8A2F5F-8BB8-4FA3-9672-D9BCB1F6D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648C91-745C-156B-F7CD-49635A8B7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5838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0FC646-D0AB-DDA8-E97E-E0DB1CA3C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9DAE92-3244-2267-96D0-AA3D4ADA64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4EB7440-9141-3F25-C1DC-1EB4ACB978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3F0FFAA-7A78-C888-1777-37620DBF3E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C049A40-533D-9160-EB84-108CC718CE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DA7C073-0895-8CBA-FE77-905F25D74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A2DE3D7-A37B-562D-92A3-E77AEF178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1847E7A-174B-E537-2CC7-61C85C453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475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46E976-B484-F7E6-616C-8F354059F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D4F0ED-7030-01CE-09D3-B4C5F5181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C557E7-1350-68A1-5F61-56FDCDB6C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5AC8FB-3809-4A56-07C2-951F97CB1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0103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8D3FFFE-BDE1-6310-CBAD-F7E6E9927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B7B0798-3D53-B326-6FD4-6BF2AA437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BE6591-E995-00EA-0297-6FA19E205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587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FBDDE-D705-259F-D116-5E829F5CE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060AA9-4EBB-F042-DF7A-9ECE52758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EE345C-17A0-A8D3-C1A8-4601FB1B53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348228-3926-9973-9FD8-D451620B3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BEBB9F2-400E-440D-2A4D-3A98A5D21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B99A82A-0808-6F88-28CB-E4AE74BD8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8072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A4C64-7964-6B57-A1C3-3A728E2AD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084F5B-2964-D2DF-1F5A-FCAC7A77C1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F7B6E3-5AB9-2EBC-4D56-3073DE5636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38AC18-1A15-95A6-A63B-EF3FA70D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B5DDCF-DAB2-1AEE-EE3C-96CEADF68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C01AA31-152F-E5AC-6625-CC10590A3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09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1DAE2-03BC-9217-4116-073ECC29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67E431A-99C2-5137-35E4-21506D85C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14400-F718-6712-3BFD-AC7A70B45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D24546-3E61-FC31-8401-AD88D5AB7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709836-7D9A-2756-47F5-5E79C08A0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374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5593356-FE2F-5985-2901-5C7690A46E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D03288-58FD-D474-1298-497298ECB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3E6218-6F81-1996-AD9D-B10CC30A7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DBA9EF-2D6C-0046-D07F-F8A862282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F0BA21-F0C1-5744-54AC-260224921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865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44B6284-6A4E-000D-FBDA-EE0943165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6284F3-7AF7-A02D-916F-5CEA70741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0837AF-2112-798B-0ADC-29EFAFAB93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4E7A07-A385-450E-9169-91AFAAA29B81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15821F-11BA-77B5-A510-41CABF7F44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17818F-5A36-BCB7-457E-B9FACC955D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136926-87F6-4A26-BA2D-E1F762354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60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6.xml"/><Relationship Id="rId4" Type="http://schemas.openxmlformats.org/officeDocument/2006/relationships/chart" Target="../charts/char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B410036-D40D-FBE9-BB44-06FEB5D86B52}"/>
              </a:ext>
            </a:extLst>
          </p:cNvPr>
          <p:cNvSpPr txBox="1"/>
          <p:nvPr/>
        </p:nvSpPr>
        <p:spPr>
          <a:xfrm>
            <a:off x="298537" y="6263"/>
            <a:ext cx="38554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1-hop</a:t>
            </a:r>
            <a:r>
              <a:rPr lang="ko-KR" altLang="en-US" dirty="0"/>
              <a:t> </a:t>
            </a:r>
            <a:r>
              <a:rPr lang="en-US" altLang="ko-KR" dirty="0"/>
              <a:t>results (p=10%, lifetime=20)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10,000 timeslot</a:t>
            </a:r>
            <a:r>
              <a:rPr lang="ko-KR" altLang="en-US" dirty="0"/>
              <a:t> 진행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총</a:t>
            </a:r>
            <a:r>
              <a:rPr lang="en-US" altLang="ko-KR" dirty="0"/>
              <a:t> 91,315</a:t>
            </a:r>
            <a:r>
              <a:rPr lang="ko-KR" altLang="en-US" dirty="0"/>
              <a:t>개</a:t>
            </a:r>
          </a:p>
        </p:txBody>
      </p:sp>
      <p:graphicFrame>
        <p:nvGraphicFramePr>
          <p:cNvPr id="5" name="차트 4">
            <a:extLst>
              <a:ext uri="{FF2B5EF4-FFF2-40B4-BE49-F238E27FC236}">
                <a16:creationId xmlns:a16="http://schemas.microsoft.com/office/drawing/2014/main" id="{193343C5-07A4-4DD1-56AA-5A6A36B7229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5513903"/>
              </p:ext>
            </p:extLst>
          </p:nvPr>
        </p:nvGraphicFramePr>
        <p:xfrm>
          <a:off x="298537" y="804333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차트 5">
            <a:extLst>
              <a:ext uri="{FF2B5EF4-FFF2-40B4-BE49-F238E27FC236}">
                <a16:creationId xmlns:a16="http://schemas.microsoft.com/office/drawing/2014/main" id="{BCB7D756-0045-59F5-A425-949BD1890A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03099058"/>
              </p:ext>
            </p:extLst>
          </p:nvPr>
        </p:nvGraphicFramePr>
        <p:xfrm>
          <a:off x="5077219" y="804333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4C433F8-4604-1507-09A4-9D77D36C0075}"/>
              </a:ext>
            </a:extLst>
          </p:cNvPr>
          <p:cNvSpPr txBox="1"/>
          <p:nvPr/>
        </p:nvSpPr>
        <p:spPr>
          <a:xfrm>
            <a:off x="298537" y="3491166"/>
            <a:ext cx="38554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1-hop</a:t>
            </a:r>
            <a:r>
              <a:rPr lang="ko-KR" altLang="en-US" dirty="0"/>
              <a:t> </a:t>
            </a:r>
            <a:r>
              <a:rPr lang="en-US" altLang="ko-KR" dirty="0"/>
              <a:t>results (p=30%, lifetime=20)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10,000 timeslot</a:t>
            </a:r>
            <a:r>
              <a:rPr lang="ko-KR" altLang="en-US" dirty="0"/>
              <a:t> 진행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총</a:t>
            </a:r>
            <a:r>
              <a:rPr lang="en-US" altLang="ko-KR" dirty="0"/>
              <a:t> 273,221</a:t>
            </a:r>
            <a:r>
              <a:rPr lang="ko-KR" altLang="en-US" dirty="0"/>
              <a:t>개</a:t>
            </a:r>
          </a:p>
        </p:txBody>
      </p:sp>
      <p:graphicFrame>
        <p:nvGraphicFramePr>
          <p:cNvPr id="8" name="차트 7">
            <a:extLst>
              <a:ext uri="{FF2B5EF4-FFF2-40B4-BE49-F238E27FC236}">
                <a16:creationId xmlns:a16="http://schemas.microsoft.com/office/drawing/2014/main" id="{8BF84E12-1C11-1094-B599-0C6BC8BC4E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38594723"/>
              </p:ext>
            </p:extLst>
          </p:nvPr>
        </p:nvGraphicFramePr>
        <p:xfrm>
          <a:off x="298537" y="4108537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차트 8">
            <a:extLst>
              <a:ext uri="{FF2B5EF4-FFF2-40B4-BE49-F238E27FC236}">
                <a16:creationId xmlns:a16="http://schemas.microsoft.com/office/drawing/2014/main" id="{B9C75865-1242-4A8C-BC50-5DD9D409FD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5424539"/>
              </p:ext>
            </p:extLst>
          </p:nvPr>
        </p:nvGraphicFramePr>
        <p:xfrm>
          <a:off x="5077219" y="4108537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667522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B410036-D40D-FBE9-BB44-06FEB5D86B52}"/>
              </a:ext>
            </a:extLst>
          </p:cNvPr>
          <p:cNvSpPr txBox="1"/>
          <p:nvPr/>
        </p:nvSpPr>
        <p:spPr>
          <a:xfrm>
            <a:off x="298537" y="6263"/>
            <a:ext cx="38554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1-hop</a:t>
            </a:r>
            <a:r>
              <a:rPr lang="ko-KR" altLang="en-US" dirty="0"/>
              <a:t> </a:t>
            </a:r>
            <a:r>
              <a:rPr lang="en-US" altLang="ko-KR" dirty="0"/>
              <a:t>results (p=50%, lifetime=20)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10,000 timeslot</a:t>
            </a:r>
            <a:r>
              <a:rPr lang="ko-KR" altLang="en-US" dirty="0"/>
              <a:t> 진행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총</a:t>
            </a:r>
            <a:r>
              <a:rPr lang="en-US" altLang="ko-KR" dirty="0"/>
              <a:t> 454,894</a:t>
            </a:r>
            <a:r>
              <a:rPr lang="ko-KR" altLang="en-US" dirty="0"/>
              <a:t>개</a:t>
            </a:r>
          </a:p>
        </p:txBody>
      </p:sp>
      <p:graphicFrame>
        <p:nvGraphicFramePr>
          <p:cNvPr id="2" name="차트 1">
            <a:extLst>
              <a:ext uri="{FF2B5EF4-FFF2-40B4-BE49-F238E27FC236}">
                <a16:creationId xmlns:a16="http://schemas.microsoft.com/office/drawing/2014/main" id="{D459201C-CAB3-ED48-3301-53F99275B5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44495089"/>
              </p:ext>
            </p:extLst>
          </p:nvPr>
        </p:nvGraphicFramePr>
        <p:xfrm>
          <a:off x="298537" y="635696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차트 2">
            <a:extLst>
              <a:ext uri="{FF2B5EF4-FFF2-40B4-BE49-F238E27FC236}">
                <a16:creationId xmlns:a16="http://schemas.microsoft.com/office/drawing/2014/main" id="{61EDBC37-602B-A9B9-2EBC-6F17617F19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5902159"/>
              </p:ext>
            </p:extLst>
          </p:nvPr>
        </p:nvGraphicFramePr>
        <p:xfrm>
          <a:off x="5144022" y="635696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053295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96BE8F-1E37-C424-8C88-2A6D2ED1D2FB}"/>
              </a:ext>
            </a:extLst>
          </p:cNvPr>
          <p:cNvSpPr txBox="1"/>
          <p:nvPr/>
        </p:nvSpPr>
        <p:spPr>
          <a:xfrm>
            <a:off x="298537" y="6263"/>
            <a:ext cx="47499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n-hop</a:t>
            </a:r>
            <a:r>
              <a:rPr lang="ko-KR" altLang="en-US" dirty="0"/>
              <a:t> </a:t>
            </a:r>
            <a:r>
              <a:rPr lang="en-US" altLang="ko-KR" dirty="0"/>
              <a:t>results (p=10%, lifetime=20, th1=20)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10,000 timeslot</a:t>
            </a:r>
            <a:r>
              <a:rPr lang="ko-KR" altLang="en-US" dirty="0"/>
              <a:t> 진행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총</a:t>
            </a:r>
            <a:r>
              <a:rPr lang="en-US" altLang="ko-KR" dirty="0"/>
              <a:t> 91,315</a:t>
            </a:r>
            <a:r>
              <a:rPr lang="ko-KR" altLang="en-US" dirty="0"/>
              <a:t>개</a:t>
            </a:r>
          </a:p>
        </p:txBody>
      </p:sp>
      <p:graphicFrame>
        <p:nvGraphicFramePr>
          <p:cNvPr id="7" name="차트 6">
            <a:extLst>
              <a:ext uri="{FF2B5EF4-FFF2-40B4-BE49-F238E27FC236}">
                <a16:creationId xmlns:a16="http://schemas.microsoft.com/office/drawing/2014/main" id="{3EFF5F46-7C9E-D436-BA6A-D95440C5783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9633345"/>
              </p:ext>
            </p:extLst>
          </p:nvPr>
        </p:nvGraphicFramePr>
        <p:xfrm>
          <a:off x="4870537" y="6858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6143E51-F5B1-02BC-8FFC-F31416CB4504}"/>
              </a:ext>
            </a:extLst>
          </p:cNvPr>
          <p:cNvSpPr txBox="1"/>
          <p:nvPr/>
        </p:nvSpPr>
        <p:spPr>
          <a:xfrm>
            <a:off x="298537" y="3429000"/>
            <a:ext cx="47499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n-hop</a:t>
            </a:r>
            <a:r>
              <a:rPr lang="ko-KR" altLang="en-US" dirty="0"/>
              <a:t> </a:t>
            </a:r>
            <a:r>
              <a:rPr lang="en-US" altLang="ko-KR" dirty="0"/>
              <a:t>results (p=30%, lifetime=20, th1=20)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10,000 timeslot</a:t>
            </a:r>
            <a:r>
              <a:rPr lang="ko-KR" altLang="en-US" dirty="0"/>
              <a:t> 진행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총</a:t>
            </a:r>
            <a:r>
              <a:rPr lang="en-US" altLang="ko-KR" dirty="0"/>
              <a:t> 273,221</a:t>
            </a:r>
            <a:r>
              <a:rPr lang="ko-KR" altLang="en-US" dirty="0"/>
              <a:t>개</a:t>
            </a:r>
          </a:p>
        </p:txBody>
      </p:sp>
      <p:graphicFrame>
        <p:nvGraphicFramePr>
          <p:cNvPr id="12" name="차트 11">
            <a:extLst>
              <a:ext uri="{FF2B5EF4-FFF2-40B4-BE49-F238E27FC236}">
                <a16:creationId xmlns:a16="http://schemas.microsoft.com/office/drawing/2014/main" id="{E787D96A-EE3F-7F52-5F7D-FF6D4F7EE1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75101229"/>
              </p:ext>
            </p:extLst>
          </p:nvPr>
        </p:nvGraphicFramePr>
        <p:xfrm>
          <a:off x="298537" y="41148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차트 12">
            <a:extLst>
              <a:ext uri="{FF2B5EF4-FFF2-40B4-BE49-F238E27FC236}">
                <a16:creationId xmlns:a16="http://schemas.microsoft.com/office/drawing/2014/main" id="{E63FE43C-3804-1753-EE70-72EEEE3822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8809133"/>
              </p:ext>
            </p:extLst>
          </p:nvPr>
        </p:nvGraphicFramePr>
        <p:xfrm>
          <a:off x="4870537" y="41148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차트 13">
            <a:extLst>
              <a:ext uri="{FF2B5EF4-FFF2-40B4-BE49-F238E27FC236}">
                <a16:creationId xmlns:a16="http://schemas.microsoft.com/office/drawing/2014/main" id="{4D487F2D-21F9-A82A-E609-2F92C2897A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6466262"/>
              </p:ext>
            </p:extLst>
          </p:nvPr>
        </p:nvGraphicFramePr>
        <p:xfrm>
          <a:off x="298537" y="6858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101474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96BE8F-1E37-C424-8C88-2A6D2ED1D2FB}"/>
              </a:ext>
            </a:extLst>
          </p:cNvPr>
          <p:cNvSpPr txBox="1"/>
          <p:nvPr/>
        </p:nvSpPr>
        <p:spPr>
          <a:xfrm>
            <a:off x="298537" y="6263"/>
            <a:ext cx="47499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n-hop</a:t>
            </a:r>
            <a:r>
              <a:rPr lang="ko-KR" altLang="en-US" dirty="0"/>
              <a:t> </a:t>
            </a:r>
            <a:r>
              <a:rPr lang="en-US" altLang="ko-KR" dirty="0"/>
              <a:t>results (p=50%, lifetime=20, th1=20)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10,000 timeslot</a:t>
            </a:r>
            <a:r>
              <a:rPr lang="ko-KR" altLang="en-US" dirty="0"/>
              <a:t> 진행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총</a:t>
            </a:r>
            <a:r>
              <a:rPr lang="en-US" altLang="ko-KR" dirty="0"/>
              <a:t> 454,894</a:t>
            </a:r>
            <a:r>
              <a:rPr lang="ko-KR" altLang="en-US" dirty="0"/>
              <a:t>개</a:t>
            </a:r>
          </a:p>
        </p:txBody>
      </p:sp>
      <p:graphicFrame>
        <p:nvGraphicFramePr>
          <p:cNvPr id="2" name="차트 1">
            <a:extLst>
              <a:ext uri="{FF2B5EF4-FFF2-40B4-BE49-F238E27FC236}">
                <a16:creationId xmlns:a16="http://schemas.microsoft.com/office/drawing/2014/main" id="{CB9BDFAA-6A34-FC75-4FB2-2691B1441A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09399358"/>
              </p:ext>
            </p:extLst>
          </p:nvPr>
        </p:nvGraphicFramePr>
        <p:xfrm>
          <a:off x="298537" y="6858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차트 2">
            <a:extLst>
              <a:ext uri="{FF2B5EF4-FFF2-40B4-BE49-F238E27FC236}">
                <a16:creationId xmlns:a16="http://schemas.microsoft.com/office/drawing/2014/main" id="{DAA71C3A-0B37-CDF4-797A-796F6892335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4662786"/>
              </p:ext>
            </p:extLst>
          </p:nvPr>
        </p:nvGraphicFramePr>
        <p:xfrm>
          <a:off x="4870537" y="6858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23923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B410036-D40D-FBE9-BB44-06FEB5D86B52}"/>
              </a:ext>
            </a:extLst>
          </p:cNvPr>
          <p:cNvSpPr txBox="1"/>
          <p:nvPr/>
        </p:nvSpPr>
        <p:spPr>
          <a:xfrm>
            <a:off x="298537" y="6263"/>
            <a:ext cx="53078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1-hop</a:t>
            </a:r>
            <a:r>
              <a:rPr lang="ko-KR" altLang="en-US" dirty="0"/>
              <a:t> </a:t>
            </a:r>
            <a:r>
              <a:rPr lang="en-US" altLang="ko-KR" dirty="0"/>
              <a:t>results (p=10%, lifetime=100)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Threshold = [0, 20, 40, 60, 80, 85, 90, 95, 100]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총</a:t>
            </a:r>
            <a:r>
              <a:rPr lang="en-US" altLang="ko-KR" dirty="0"/>
              <a:t> 91,315</a:t>
            </a:r>
            <a:r>
              <a:rPr lang="ko-KR" altLang="en-US" dirty="0"/>
              <a:t>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C433F8-4604-1507-09A4-9D77D36C0075}"/>
              </a:ext>
            </a:extLst>
          </p:cNvPr>
          <p:cNvSpPr txBox="1"/>
          <p:nvPr/>
        </p:nvSpPr>
        <p:spPr>
          <a:xfrm>
            <a:off x="298537" y="3491166"/>
            <a:ext cx="53078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1-hop</a:t>
            </a:r>
            <a:r>
              <a:rPr lang="ko-KR" altLang="en-US" dirty="0"/>
              <a:t> </a:t>
            </a:r>
            <a:r>
              <a:rPr lang="en-US" altLang="ko-KR" dirty="0"/>
              <a:t>results (p=30%, lifetime=100)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Threshold = [0, 20, 40, 60, 80, 85, 90, 95, 100]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총</a:t>
            </a:r>
            <a:r>
              <a:rPr lang="en-US" altLang="ko-KR" dirty="0"/>
              <a:t> 273,221</a:t>
            </a:r>
            <a:r>
              <a:rPr lang="ko-KR" altLang="en-US" dirty="0"/>
              <a:t>개</a:t>
            </a:r>
          </a:p>
        </p:txBody>
      </p:sp>
      <p:graphicFrame>
        <p:nvGraphicFramePr>
          <p:cNvPr id="2" name="차트 1">
            <a:extLst>
              <a:ext uri="{FF2B5EF4-FFF2-40B4-BE49-F238E27FC236}">
                <a16:creationId xmlns:a16="http://schemas.microsoft.com/office/drawing/2014/main" id="{20D1AEDE-0599-DC2A-972C-19C7C4458A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2139089"/>
              </p:ext>
            </p:extLst>
          </p:nvPr>
        </p:nvGraphicFramePr>
        <p:xfrm>
          <a:off x="298537" y="6477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차트 2">
            <a:extLst>
              <a:ext uri="{FF2B5EF4-FFF2-40B4-BE49-F238E27FC236}">
                <a16:creationId xmlns:a16="http://schemas.microsoft.com/office/drawing/2014/main" id="{C80BDE5B-A11F-EF2E-BA35-8074B9116A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8071365"/>
              </p:ext>
            </p:extLst>
          </p:nvPr>
        </p:nvGraphicFramePr>
        <p:xfrm>
          <a:off x="4870537" y="6477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3C82FECB-9479-A55A-7617-7089CB1B9F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95302645"/>
              </p:ext>
            </p:extLst>
          </p:nvPr>
        </p:nvGraphicFramePr>
        <p:xfrm>
          <a:off x="298537" y="41148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차트 11">
            <a:extLst>
              <a:ext uri="{FF2B5EF4-FFF2-40B4-BE49-F238E27FC236}">
                <a16:creationId xmlns:a16="http://schemas.microsoft.com/office/drawing/2014/main" id="{7A6A4B34-DA9C-7EB8-A38E-7B08718B634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9053397"/>
              </p:ext>
            </p:extLst>
          </p:nvPr>
        </p:nvGraphicFramePr>
        <p:xfrm>
          <a:off x="4870537" y="41148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688410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96BE8F-1E37-C424-8C88-2A6D2ED1D2FB}"/>
              </a:ext>
            </a:extLst>
          </p:cNvPr>
          <p:cNvSpPr txBox="1"/>
          <p:nvPr/>
        </p:nvSpPr>
        <p:spPr>
          <a:xfrm>
            <a:off x="298537" y="6263"/>
            <a:ext cx="53078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1-hop</a:t>
            </a:r>
            <a:r>
              <a:rPr lang="ko-KR" altLang="en-US" dirty="0"/>
              <a:t> </a:t>
            </a:r>
            <a:r>
              <a:rPr lang="en-US" altLang="ko-KR" dirty="0"/>
              <a:t>results (p=50%, lifetime=100)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Threshold = [0, 20, 40, 60, 80, 85, 90, 95, 100]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총</a:t>
            </a:r>
            <a:r>
              <a:rPr lang="en-US" altLang="ko-KR" dirty="0"/>
              <a:t> 454,894</a:t>
            </a:r>
            <a:r>
              <a:rPr lang="ko-KR" altLang="en-US" dirty="0"/>
              <a:t>개</a:t>
            </a:r>
          </a:p>
        </p:txBody>
      </p:sp>
      <p:graphicFrame>
        <p:nvGraphicFramePr>
          <p:cNvPr id="4" name="차트 3">
            <a:extLst>
              <a:ext uri="{FF2B5EF4-FFF2-40B4-BE49-F238E27FC236}">
                <a16:creationId xmlns:a16="http://schemas.microsoft.com/office/drawing/2014/main" id="{6CEE7B3D-AF35-336D-BFD5-F35C6B0BDC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26141636"/>
              </p:ext>
            </p:extLst>
          </p:nvPr>
        </p:nvGraphicFramePr>
        <p:xfrm>
          <a:off x="298537" y="751605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차트 5">
            <a:extLst>
              <a:ext uri="{FF2B5EF4-FFF2-40B4-BE49-F238E27FC236}">
                <a16:creationId xmlns:a16="http://schemas.microsoft.com/office/drawing/2014/main" id="{7C36E636-6271-85BF-CDEA-A0EB899DC57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168962"/>
              </p:ext>
            </p:extLst>
          </p:nvPr>
        </p:nvGraphicFramePr>
        <p:xfrm>
          <a:off x="4870537" y="751605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269311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267</Words>
  <Application>Microsoft Office PowerPoint</Application>
  <PresentationFormat>와이드스크린</PresentationFormat>
  <Paragraphs>45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2</cp:revision>
  <cp:lastPrinted>2026-07-21T02:21:41Z</cp:lastPrinted>
  <dcterms:created xsi:type="dcterms:W3CDTF">2026-07-21T01:22:23Z</dcterms:created>
  <dcterms:modified xsi:type="dcterms:W3CDTF">2026-07-21T08:53:27Z</dcterms:modified>
</cp:coreProperties>
</file>